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학습자 수료 예측 데이터 EDA 분석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train.csv 기반 | 생성 시각: 2026-01-26 09:19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목표: 데이터 구조·품질·신호를 정량적으로 파악하고, 전처리/모델링 의사결정 근거를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DACON x BDA 제2회 학습자 수료 예측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대회/문제 정의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평가 지표와 목표를 먼저 고정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문제: 학습자(지원자) 설문/이력 데이터를 이용해 수료 여부(completed)를 예측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평가: Binary F1 Score (양성 클래스=1 기준 F1)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데이터: train/test 제공(외부 데이터 사용 금지, 제출 형식 준수 필요)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규정 요약 (평가/제출) — 상세는 규정 파일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데이터 개요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크기·타깃 분포·기본 품질 체크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데이터: train.csv (행 748, 열 46)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타깃: completed (수료 여부) | 양성 223 (29.8%), 음성 525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ID 유일성: 748/748 (중복행 0개)</a:t>
            </a:r>
          </a:p>
        </p:txBody>
      </p:sp>
      <p:pic>
        <p:nvPicPr>
          <p:cNvPr id="4" name="Picture 3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25880"/>
            <a:ext cx="4572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Malgun Gothic"/>
              </a:defRPr>
            </a:pPr>
            <a:r>
              <a:t>클래스 불균형(약 30:70) → Stratified CV/임계값 튜닝 중요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타깃 분포 및 기본 통계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피처 구성(타입) 인벤토리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자동 분류(휴리스틱) 기반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5303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219456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numeric_continuous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수치(연속)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numeric_discrete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수치(이산/코드)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categorical_low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범주(저카디널)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categorical_high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범주(고카디널)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자유서술 텍스트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datetime_like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날짜형(추정)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id_like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ID/고유키(추정)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상수/정보 없음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0936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수치형: major_data, class1, class2, class3, completed_semester, time_input, school1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저카디널 범주: major type, major1_1, major1_2, job, re_registration, nationality, inflow_route, whyBDA, what_to_gain, hope_for_group, previous_class_3, previous_class_4, previous_class_5, previous_class_6, previous_class_7, previous_class_8, desired_career_path, project_type, incumbents_level, incumbents_lecture, incumbents_company_level, incumbents_lecture_type, incumbents_lecture_scale, contest_participation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고카디널 범주: major_field, desired_job, certificate_acquisition, desired_certificate, desired_job_except_data, expected_domain, onedayclass_topic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텍스트: incumbents_lecture_scale_reason, interested_company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상수/무의미: generation, class4, contest_award, idea_contest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피처 유형별 처리는 전처리 전략을 결정하는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결측치(Missing) 패턴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결측률 상위 컬럼과 의미</a:t>
            </a:r>
          </a:p>
        </p:txBody>
      </p:sp>
      <p:pic>
        <p:nvPicPr>
          <p:cNvPr id="3" name="Picture 2" descr="missing_top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852160" cy="351129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6560" y="1417320"/>
          <a:ext cx="6035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822960"/>
                <a:gridCol w="914400"/>
                <a:gridCol w="1097280"/>
              </a:tblGrid>
              <a:tr h="224443"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dtype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nunique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missing_rate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missing_count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contest_award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748</a:t>
                      </a:r>
                    </a:p>
                  </a:txBody>
                  <a:tcPr/>
                </a:tc>
              </a:tr>
              <a:tr h="224443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idea_contest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748</a:t>
                      </a:r>
                    </a:p>
                  </a:txBody>
                  <a:tcPr/>
                </a:tc>
              </a:tr>
              <a:tr h="224443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class4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747</a:t>
                      </a:r>
                    </a:p>
                  </a:txBody>
                  <a:tcPr/>
                </a:tc>
              </a:tr>
              <a:tr h="224443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contest_participation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99.2%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742</a:t>
                      </a:r>
                    </a:p>
                  </a:txBody>
                  <a:tcPr/>
                </a:tc>
              </a:tr>
              <a:tr h="224443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class3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98.1%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734</a:t>
                      </a:r>
                    </a:p>
                  </a:txBody>
                  <a:tcPr/>
                </a:tc>
              </a:tr>
              <a:tr h="224443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previous_class_5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602</a:t>
                      </a:r>
                    </a:p>
                  </a:txBody>
                  <a:tcPr/>
                </a:tc>
              </a:tr>
              <a:tr h="224443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previous_class_3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602</a:t>
                      </a:r>
                    </a:p>
                  </a:txBody>
                  <a:tcPr/>
                </a:tc>
              </a:tr>
              <a:tr h="224443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previous_class_6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602</a:t>
                      </a:r>
                    </a:p>
                  </a:txBody>
                  <a:tcPr/>
                </a:tc>
              </a:tr>
              <a:tr h="224443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previous_class_8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602</a:t>
                      </a:r>
                    </a:p>
                  </a:txBody>
                  <a:tcPr/>
                </a:tc>
              </a:tr>
              <a:tr h="22445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previous_class_7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602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4023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관찰: class4/contest_award/idea_contest는 사실상 전부 결측(정보 없음) → DROP 유력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previous_class_3~8는 결측 80%+로 매우 큼 → '결측 자체'가 신호일 가능성(재등록/경험 여부)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결측은 '정보 없음'일 수도 '없음/해당없음'이라는 정보일 수도 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상수/저정보 컬럼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학습에 도움이 되지 않거나 위험한 컬럼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상수(혹은 거의 상수) 컬럼: generation, class4, contest_award, idea_contest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generation은 전 행이 9(상수) → 모델에 넣어도 정보가 없고 과적합만 유발 가능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class4/contest_award/idea_contest는 결측 100% 수준 → 학습 불가 → DROP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9260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097280"/>
                <a:gridCol w="475488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missing_rate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drop_reason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contest_award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missing_~100%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idea_contest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missing_~100%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class4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constant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constant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전처리 단계에서 'DROP 리스트'로 고정하는 것이 안전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수치형 변수: 분포와 이상치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분포 왜곡/단위 오류를 먼저 잡아야 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17320"/>
          <a:ext cx="6583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822960"/>
                <a:gridCol w="822960"/>
                <a:gridCol w="731520"/>
                <a:gridCol w="731520"/>
                <a:gridCol w="822960"/>
              </a:tblGrid>
              <a:tr h="354330"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col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miss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p50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p95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algun Gothic"/>
                        </a:defRPr>
                      </a:pPr>
                      <a:r>
                        <a:t>nunique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school1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73.0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91.0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major_data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class1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class2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class3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98.1%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12.35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completed_semester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20241.0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time_input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hist__tim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17320"/>
            <a:ext cx="2560320" cy="1463040"/>
          </a:xfrm>
          <a:prstGeom prst="rect">
            <a:avLst/>
          </a:prstGeom>
        </p:spPr>
      </p:pic>
      <p:pic>
        <p:nvPicPr>
          <p:cNvPr id="5" name="Picture 4" descr="hist__completed_seme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417320"/>
            <a:ext cx="256032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42976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Malgun Gothic"/>
              </a:defRPr>
            </a:pPr>
            <a:r>
              <a:t>time_input: 대부분 1~4에 집중(특히 2), 일부 6·10·24 같은 이상치 → 단위/입력 오류 가능 → 상한 캡핑/클리핑 권장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Malgun Gothic"/>
              </a:defRPr>
            </a:pPr>
            <a:r>
              <a:t>completed_semester: 주로 4~9인데 20241/2020.02 같은 값 존재 → 형식 혼재(연도+학기?) → 정규화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수치형은 '스케일'보다 먼저 '의미/단위/이상치'를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수치형 vs 타깃(수료)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분포 차이(박스플롯)와 단순 상관</a:t>
            </a:r>
          </a:p>
        </p:txBody>
      </p:sp>
      <p:pic>
        <p:nvPicPr>
          <p:cNvPr id="3" name="Picture 2" descr="box__time_input_by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577840" cy="3718560"/>
          </a:xfrm>
          <a:prstGeom prst="rect">
            <a:avLst/>
          </a:prstGeom>
        </p:spPr>
      </p:pic>
      <p:pic>
        <p:nvPicPr>
          <p:cNvPr id="4" name="Picture 3" descr="box__completed_semester_by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577840" cy="37185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937760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1463040"/>
              </a:tblGrid>
              <a:tr h="209005"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col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miss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major_data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class1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completed_semester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3.7%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time_input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school1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class2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77.4%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4937760"/>
            <a:ext cx="6126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단순 상관은 전반적으로 약함(|r| &lt; 0.1 수준) → 비선형/범주형 신호가 더 중요할 가능성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수치형은 '이상치 정리 + 결측 여부 플래그'가 성능에 더 직접적으로 기여할 수 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상관은 참고용 — 범주형/텍스트가 핵심 신호일 수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구조적 결측의 의미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previous_class 계열과 재등록/경험 신호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97280"/>
                <a:gridCol w="1371600"/>
              </a:tblGrid>
              <a:tr h="216130"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col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miss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r(miss,target)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previous_class_3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-0.121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previous_class_6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-0.121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previous_class_5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-0.121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previous_class_8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-0.121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previous_class_7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-0.121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previous_class_4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-0.121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major1_2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-0.071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class2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-0.067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contest_participation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99.2%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-0.04</a:t>
                      </a:r>
                    </a:p>
                  </a:txBody>
                  <a:tcPr/>
                </a:tc>
              </a:tr>
              <a:tr h="21614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completed_semester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92240" y="15544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828"/>
                </a:solidFill>
                <a:latin typeface="Malgun Gothic"/>
              </a:defRPr>
            </a:pPr>
            <a:r>
              <a:t>previous_class_* 정보가 '있는' 사람: 146명, 수료율 41.1%</a:t>
            </a:r>
          </a:p>
          <a:p>
            <a:pPr>
              <a:spcAft>
                <a:spcPts val="400"/>
              </a:spcAft>
              <a:defRPr sz="1500">
                <a:solidFill>
                  <a:srgbClr val="282828"/>
                </a:solidFill>
                <a:latin typeface="Malgun Gothic"/>
              </a:defRPr>
            </a:pPr>
            <a:r>
              <a:t>previous_class_* 정보가 '없는' 사람: 602명, 수료율 27.1%</a:t>
            </a:r>
          </a:p>
          <a:p>
            <a:pPr>
              <a:spcAft>
                <a:spcPts val="400"/>
              </a:spcAft>
              <a:defRPr sz="1500">
                <a:solidFill>
                  <a:srgbClr val="282828"/>
                </a:solidFill>
                <a:latin typeface="Malgun Gothic"/>
              </a:defRPr>
            </a:pPr>
            <a:r>
              <a:t>→ 결측이 단순 누락이 아니라 '재등록/이력 유무'를 나타내는 구조적 변수일 가능성 높음</a:t>
            </a:r>
          </a:p>
          <a:p>
            <a:pPr>
              <a:spcAft>
                <a:spcPts val="400"/>
              </a:spcAft>
              <a:defRPr sz="1500">
                <a:solidFill>
                  <a:srgbClr val="282828"/>
                </a:solidFill>
                <a:latin typeface="Malgun Gothic"/>
              </a:defRPr>
            </a:pPr>
            <a:r>
              <a:t>전처리 권장: (1) has_prev_class_info 플래그, (2) previous_class_count, (3) '해당없음'과 NaN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결측 처리 = 단순 대체가 아니라 의미 해석이 먼저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범주형 주요 신호 (1)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재등록/유입/참여 동기가 수료율과 연관</a:t>
            </a:r>
          </a:p>
        </p:txBody>
      </p:sp>
      <p:pic>
        <p:nvPicPr>
          <p:cNvPr id="3" name="Picture 2" descr="cat_target_rate__re_regi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749039" cy="1479261"/>
          </a:xfrm>
          <a:prstGeom prst="rect">
            <a:avLst/>
          </a:prstGeom>
        </p:spPr>
      </p:pic>
      <p:pic>
        <p:nvPicPr>
          <p:cNvPr id="4" name="Picture 3" descr="cat_target_rate__inflow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63040"/>
            <a:ext cx="3749039" cy="2160904"/>
          </a:xfrm>
          <a:prstGeom prst="rect">
            <a:avLst/>
          </a:prstGeom>
        </p:spPr>
      </p:pic>
      <p:pic>
        <p:nvPicPr>
          <p:cNvPr id="5" name="Picture 4" descr="cat_target_rate__whyB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463040"/>
            <a:ext cx="3749039" cy="19336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754880"/>
            <a:ext cx="11338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re_registration: 예 41.1% (n=146) vs 아니요 27.1% (n=602) → 재수강/경험자 수료율↑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inflow_route: 기존 학회원/운영진 40.7% (n=150) &gt; 대외활동 사이트 36.4% (n=55) &gt; 에브리타임 26.5% (n=340)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whyBDA: '이전 기수 만족' 41.1% (n=146) 높음 / '현직자 강의' 사유는 16.1% (n=56) 낮음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범주형은 '카테고리별 수료율'이 직접적인 신호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범주형 주요 신호 (2)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활동 희망 형태/수업 형태 선호</a:t>
            </a:r>
          </a:p>
        </p:txBody>
      </p:sp>
      <p:pic>
        <p:nvPicPr>
          <p:cNvPr id="3" name="Picture 2" descr="cat_target_rate__hope_for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2235521"/>
          </a:xfrm>
          <a:prstGeom prst="rect">
            <a:avLst/>
          </a:prstGeom>
        </p:spPr>
      </p:pic>
      <p:pic>
        <p:nvPicPr>
          <p:cNvPr id="4" name="Picture 3" descr="cat_target_rate__incumbents_lecture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669280" cy="22369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11338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hope_for_group: 온라인 참여 34.0% (n=265) &gt; 개인 활동 31.9% (n=116) &gt; 오프라인 참여 26.2% (n=367)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incumbents_lecture_type: 온라인 36.6% (n=131) &gt; 온/오프 동시 29.2% (n=511) &gt; 오프라인 24.5% (n=106)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→ 일정/시간 제약이 큰 집단일수록 오프라인 참여/수업 형태에서 이탈 가능성(가설)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해석은 가설 — 모델링 시 교차검증으로 재확인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자격증/진로 관련 피처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자기주도 준비 정도가 신호일 수 있음</a:t>
            </a:r>
          </a:p>
        </p:txBody>
      </p:sp>
      <p:pic>
        <p:nvPicPr>
          <p:cNvPr id="3" name="Picture 2" descr="cat_target_rate__certificate_acqui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567285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463040"/>
          <a:ext cx="5394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914400"/>
                <a:gridCol w="1097280"/>
              </a:tblGrid>
              <a:tr h="284480"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certificate_acquisition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P(completed=1)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25.0%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ADsP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33.6%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ADsP, SQLD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42.4%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SQLD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41.7%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구글 애널리스트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36.4%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ADsP, 빅데이터 분석 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83.3%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정보처리기사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ADsP, SQLD, 정보처리기사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40.0%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없음(460명) 수료율 25.0% vs ADsP/SQLD 보유는 33~42%대 → 기본 역량/학습 습관의 대리변수 가능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desired_job_except_data / desired_job 등은 고카디널 + 긴 문자열 → 차원 폭발 위험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전처리 권장: 빈도 희소 카테고리 병합(OTHER), 타깃 인코딩/해싱, 문자열 정규화(공백/구분자)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고카디널 범주는 인코딩 전략이 성능과 안정성의 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텍스트 피처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자유서술 응답: 길이 분포·키워드·전처리 방향</a:t>
            </a:r>
          </a:p>
        </p:txBody>
      </p:sp>
      <p:pic>
        <p:nvPicPr>
          <p:cNvPr id="3" name="Picture 2" descr="text_len__incumbents_lecture_scale_r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239589"/>
          </a:xfrm>
          <a:prstGeom prst="rect">
            <a:avLst/>
          </a:prstGeom>
        </p:spPr>
      </p:pic>
      <p:pic>
        <p:nvPicPr>
          <p:cNvPr id="4" name="Picture 3" descr="text_len__interested_compa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669280" cy="32395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617720"/>
            <a:ext cx="11338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Malgun Gothic"/>
              </a:defRPr>
            </a:pPr>
            <a:r>
              <a:t>incumbents_lecture_scale_reason: 평균 길이 25.8, 결측 0.0%, 빈문자열 0.4%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Malgun Gothic"/>
              </a:defRPr>
            </a:pPr>
            <a:r>
              <a:t>  · 상위 토큰(샘플): 인원이:146; 수:123; 것:113; 너무:89; 다양한:73; 같아서:72; 적당한:64; 많은:51; 있어서:49; 싶어서:36; 적어야:36; 들을:34; 더:32; 이야기를:32; 듣고:31; 많으면:31...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Malgun Gothic"/>
              </a:defRPr>
            </a:pPr>
            <a:r>
              <a:t>interested_company: 평균 길이 6.7, 결측 0.0%, 빈문자열 0.1%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Malgun Gothic"/>
              </a:defRPr>
            </a:pPr>
            <a:r>
              <a:t>  · 상위 토큰(샘플): 네이버:71; 토스:34; 카카오:29; 삼성:26; 삼성전자:23; 없음:22; 아직:19; 구글:18; lg:17; sk:15; 없습니다:12; 등:11; 현대자동차:10; 쿠팡:9; 모르겠습니다:7; 넥슨:7;...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Malgun Gothic"/>
              </a:defRPr>
            </a:pPr>
            <a:r>
              <a:t>전처리 권장: 한글/영문 정규화, 구분자 통일(, / ;), 불용어/중복 제거 후 TF-IDF(단어+문자 n-gram) 또는 임베딩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텍스트는 '정보가 많지만 노이즈도 많음' → 규칙 기반 정규화가 중요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주의 포인트(품질/누수/라벨 문제)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학습 안정성을 떨어뜨리는 요인 정리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Malgun Gothic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certificate_acquisition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name_keyword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completed_semester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name_keyword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desired_certificate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name_keyword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75120" y="15544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completed(타깃)과 직접적으로 연결될 수 있는 '결과/점수/수료' 키워드 컬럼은 현재 자동 탐지로는 뚜렷하지 않음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단, 고카디널 문자열/설문 자유서술에 '수료/완료' 같은 표현이 섞일 수 있어 텍스트 파이프라인에서 누수 여부 점검 필요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contest_participation처럼 대부분 결측인데 일부만 긴 텍스트인 컬럼이 존재 → 결측 플래그 + 희소 텍스트 처리/드롭 검토</a:t>
            </a:r>
          </a:p>
          <a:p>
            <a:pPr>
              <a:spcAft>
                <a:spcPts val="400"/>
              </a:spcAft>
              <a:defRPr sz="1400">
                <a:solidFill>
                  <a:srgbClr val="282828"/>
                </a:solidFill>
                <a:latin typeface="Malgun Gothic"/>
              </a:defRPr>
            </a:pPr>
            <a:r>
              <a:t>긴 라벨(문장형 카테고리)은 시각화/원-핫에서 문제 → 라벨 요약/매핑 테이블 구축 권장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누수는 '컬럼명'보다 '내용'에서 발생하는 경우가 더 위험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EDA 기반 전처리 로드맵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바로 구현 가능한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Malgun Gothic"/>
              </a:defRPr>
            </a:pPr>
            <a:r>
              <a:t>1) DROP: generation, class4, contest_award, idea_contest (상수/전결측)</a:t>
            </a:r>
          </a:p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Malgun Gothic"/>
              </a:defRPr>
            </a:pPr>
            <a:r>
              <a:t>2) 수치형 정리: completed_semester 형식 통일(예: 연도-학기 → 정수/범주), time_input 이상치 캡핑(예: 1~99% 또는 IQR 기반)</a:t>
            </a:r>
          </a:p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Malgun Gothic"/>
              </a:defRPr>
            </a:pPr>
            <a:r>
              <a:t>3) 결측 처리: 단순 대체 전에 '결측 플래그' 생성(특히 previous_class_*, class2/3, major1_2)</a:t>
            </a:r>
          </a:p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Malgun Gothic"/>
              </a:defRPr>
            </a:pPr>
            <a:r>
              <a:t>4) 범주형 인코딩:</a:t>
            </a:r>
          </a:p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Malgun Gothic"/>
              </a:defRPr>
            </a:pPr>
            <a:r>
              <a:t>   - 저카디널: 원-핫(결측을 별도 카테고리로) </a:t>
            </a:r>
          </a:p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Malgun Gothic"/>
              </a:defRPr>
            </a:pPr>
            <a:r>
              <a:t>   - 고카디널: 빈도 기반 병합(OTHER) + 타깃 인코딩(교차검증 내) 또는 CatBoost</a:t>
            </a:r>
          </a:p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Malgun Gothic"/>
              </a:defRPr>
            </a:pPr>
            <a:r>
              <a:t>5) 텍스트: 정규화(공백/구분자/중복) → TF-IDF(단어+char n-gram) → 모델에 결합</a:t>
            </a:r>
          </a:p>
          <a:p>
            <a:pPr>
              <a:spcAft>
                <a:spcPts val="400"/>
              </a:spcAft>
              <a:defRPr sz="1600">
                <a:solidFill>
                  <a:srgbClr val="282828"/>
                </a:solidFill>
                <a:latin typeface="Malgun Gothic"/>
              </a:defRPr>
            </a:pPr>
            <a:r>
              <a:t>6) 검증: Stratified K-Fold + F1 최적 임계값 튜닝(0.5 고정 금지)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다음 단계: 전처리 파이프라인 구현 → 베이스라인 모델링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latin typeface="Malgun Gothic"/>
              </a:rPr>
              <a:t>요약 및 다음 액션</a:t>
            </a:r>
          </a:p>
          <a:p>
            <a:pPr>
              <a:spcBef>
                <a:spcPts val="800"/>
              </a:spcBef>
              <a:defRPr sz="1600">
                <a:solidFill>
                  <a:srgbClr val="505050"/>
                </a:solidFill>
                <a:latin typeface="Malgun Gothic"/>
              </a:defRPr>
            </a:pPr>
            <a:r>
              <a:t>핵심 인사이트를 모델로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1338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데이터는 범주형(특히 설문형/문장형 카테고리) 비중이 높고, 결측이 구조적 신호로 작동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재등록/이력 관련 변수(previous_class_*, re_registration 등)가 수료율 차이를 크게 만듦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수치형은 상관이 약하지만, 이상치·형식 혼재(completed_semester, time_input) 정리가 필요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가장 안전한 베이스라인: CatBoost(범주형 강점) 또는 LightGBM + 타깃 인코딩 + TF-IDF 결합</a:t>
            </a:r>
          </a:p>
          <a:p>
            <a:pPr>
              <a:spcAft>
                <a:spcPts val="400"/>
              </a:spcAft>
              <a:defRPr sz="1800">
                <a:solidFill>
                  <a:srgbClr val="282828"/>
                </a:solidFill>
                <a:latin typeface="Malgun Gothic"/>
              </a:defRPr>
            </a:pPr>
            <a:r>
              <a:t>즉시 할 일: 전처리 코드(드롭/정규화/인코딩) 작성 → CV로 피처 중요도 재검증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Malgun Gothic"/>
              </a:defRPr>
            </a:pPr>
            <a:r>
              <a:t>EDA 결과 기반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algun Gothi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