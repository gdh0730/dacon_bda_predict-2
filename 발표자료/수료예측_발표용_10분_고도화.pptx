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image" Target="../media/image6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image" Target="../media/image1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학습자 수료 예측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EDA → 가설 기반 피처 → 선형모델(CV) + Threshold 최적화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325880"/>
            <a:ext cx="111556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>
                <a:solidFill>
                  <a:srgbClr val="464646"/>
                </a:solidFill>
              </a:defRPr>
            </a:pPr>
            <a:r>
              <a:t>10분 수업발표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731520" y="2103120"/>
            <a:ext cx="16002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문제/데이터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2331720" y="2491739"/>
            <a:ext cx="164592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496312" y="2103120"/>
            <a:ext cx="16002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EDA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4096512" y="2491739"/>
            <a:ext cx="164592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4261104" y="2103120"/>
            <a:ext cx="16002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가설·피처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61304" y="2491739"/>
            <a:ext cx="164592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6025896" y="2103120"/>
            <a:ext cx="16002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드리프트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7626096" y="2491739"/>
            <a:ext cx="164592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7790688" y="2103120"/>
            <a:ext cx="16002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모델·CV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9390888" y="2491739"/>
            <a:ext cx="164592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9555480" y="2103120"/>
            <a:ext cx="16002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Threshold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11155680" y="2491739"/>
            <a:ext cx="164592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11320272" y="2103120"/>
            <a:ext cx="1600200" cy="77724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제출/정리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31520" y="3291840"/>
            <a:ext cx="10789920" cy="32918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1E1E1E"/>
                </a:solidFill>
              </a:defRPr>
            </a:pPr>
            <a:r>
              <a:t>목표: 10기 학습자의 수료 여부(completed=1) 예측</a:t>
            </a:r>
          </a:p>
          <a:p>
            <a:pPr>
              <a:spcAft>
                <a:spcPts val="400"/>
              </a:spcAft>
              <a:defRPr sz="2000">
                <a:solidFill>
                  <a:srgbClr val="1E1E1E"/>
                </a:solidFill>
              </a:defRPr>
            </a:pPr>
            <a:r>
              <a:t>핵심 설계: (1) 범주형 중심 데이터 → OneHot/멀티셀렉트 처리, (2) 과적합/드리프트 위험 피처 제한, (3) F1을 직접 최적화(Threshold 포함)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1. 문제 정의 &amp; 평가 지표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F1 대회에서는 '모델'과 'Threshold'가 한 세트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828800"/>
            <a:ext cx="10972800" cy="4572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2000">
                <a:solidFill>
                  <a:srgbClr val="1E1E1E"/>
                </a:solidFill>
              </a:defRPr>
            </a:pPr>
            <a:r>
              <a:t>예측 대상: completed (0/1) → Test에 대해 라벨 제출</a:t>
            </a:r>
          </a:p>
          <a:p>
            <a:pPr>
              <a:spcAft>
                <a:spcPts val="400"/>
              </a:spcAft>
              <a:defRPr sz="2000">
                <a:solidFill>
                  <a:srgbClr val="1E1E1E"/>
                </a:solidFill>
              </a:defRPr>
            </a:pPr>
            <a:r>
              <a:t>평가 지표: Binary F1 Score</a:t>
            </a:r>
          </a:p>
          <a:p>
            <a:pPr>
              <a:spcAft>
                <a:spcPts val="400"/>
              </a:spcAft>
              <a:defRPr sz="2000">
                <a:solidFill>
                  <a:srgbClr val="1E1E1E"/>
                </a:solidFill>
              </a:defRPr>
            </a:pPr>
            <a:r>
              <a:t>의미: 확률 출력만 잘해도 부족(0/1 변환이 필수) → CV에서 Threshold를 함께 최적화</a:t>
            </a:r>
          </a:p>
          <a:p>
            <a:pPr>
              <a:spcAft>
                <a:spcPts val="400"/>
              </a:spcAft>
              <a:defRPr sz="2000">
                <a:solidFill>
                  <a:srgbClr val="1E1E1E"/>
                </a:solidFill>
              </a:defRPr>
            </a:pPr>
            <a:r>
              <a:t>설계 원칙: 재현 가능(스크립트 기반) · 간결하지만 강건(희소 행렬 + 선형모델) · 일반화 우선(드리프트 점검)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2. 데이터 개요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크기·컬럼 구성·타겟 불균형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45920"/>
          <a:ext cx="5669280" cy="1828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17320"/>
                <a:gridCol w="1417320"/>
                <a:gridCol w="1417320"/>
                <a:gridCol w="141732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141414"/>
                          </a:solidFill>
                        </a:defRPr>
                      </a:pPr>
                      <a:r>
                        <a:t>구분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141414"/>
                          </a:solidFill>
                        </a:defRPr>
                      </a:pPr>
                      <a:r>
                        <a:t>행(rows)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141414"/>
                          </a:solidFill>
                        </a:defRPr>
                      </a:pPr>
                      <a:r>
                        <a:t>열(cols)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141414"/>
                          </a:solidFill>
                        </a:defRPr>
                      </a:pPr>
                      <a:r>
                        <a:t>비고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Train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completed 포함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814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completed 없음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Target(Train)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748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pos=223(29.8%), neg=525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Picture 11" descr="targe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417320"/>
            <a:ext cx="5120640" cy="2926080"/>
          </a:xfrm>
          <a:prstGeom prst="rect">
            <a:avLst/>
          </a:prstGeom>
        </p:spPr>
      </p:pic>
      <p:sp>
        <p:nvSpPr>
          <p:cNvPr id="13" name="TextBox 12"/>
          <p:cNvSpPr txBox="1"/>
          <p:nvPr/>
        </p:nvSpPr>
        <p:spPr>
          <a:xfrm>
            <a:off x="6675120" y="4389120"/>
            <a:ext cx="512064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5A5A5A"/>
                </a:solidFill>
              </a:defRPr>
            </a:pPr>
            <a:r>
              <a:t>타겟 분포: 양성(수료) ≈ 30% → class_weight/threshold 설계에 영향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31520" y="3840480"/>
            <a:ext cx="566928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E1E1E"/>
                </a:solidFill>
              </a:defRPr>
            </a:pPr>
            <a:r>
              <a:t>컬럼 특성: 범주형(특히 high-cardinality) + 멀티셀렉트(쉼표) + 텍스트 2개</a:t>
            </a:r>
          </a:p>
          <a:p>
            <a:pPr>
              <a:spcAft>
                <a:spcPts val="400"/>
              </a:spcAft>
              <a:defRPr sz="1800">
                <a:solidFill>
                  <a:srgbClr val="1E1E1E"/>
                </a:solidFill>
              </a:defRPr>
            </a:pPr>
            <a:r>
              <a:t>따라서: OneHot + multi-hot으로 희소(sparse) 행렬 생성 → 선형모델이 안정적/효율적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3. EDA를 '전처리/피처 정책'으로 연결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그래프 → 판단 기준 → 구현(스크립트)까지 한 흐름으로 정리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920240"/>
            <a:ext cx="201168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결측/상수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743200" y="2263140"/>
            <a:ext cx="22860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971800" y="1920240"/>
            <a:ext cx="201168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타입/고유값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983480" y="2263140"/>
            <a:ext cx="22860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5212080" y="1920240"/>
            <a:ext cx="201168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단일 신호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7223760" y="2263140"/>
            <a:ext cx="22860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7452360" y="1920240"/>
            <a:ext cx="201168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과적합 징후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9464040" y="2263140"/>
            <a:ext cx="22860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9692640" y="1920240"/>
            <a:ext cx="201168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가설 설계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31520" y="2926080"/>
            <a:ext cx="7315200" cy="3840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800">
                <a:solidFill>
                  <a:srgbClr val="1E1E1E"/>
                </a:solidFill>
              </a:defRPr>
            </a:pPr>
            <a:r>
              <a:t>EDA의 목표는 '시각화'가 아니라, 이후 단계에서 흔들리지 않는 규칙을 만드는 것</a:t>
            </a:r>
          </a:p>
          <a:p>
            <a:pPr>
              <a:spcAft>
                <a:spcPts val="400"/>
              </a:spcAft>
              <a:defRPr sz="1800">
                <a:solidFill>
                  <a:srgbClr val="1E1E1E"/>
                </a:solidFill>
              </a:defRPr>
            </a:pPr>
            <a:r>
              <a:t>결측/상수: 노이즈 컬럼 제거 or 구조 변경(집계)로 신호화</a:t>
            </a:r>
          </a:p>
          <a:p>
            <a:pPr>
              <a:spcAft>
                <a:spcPts val="400"/>
              </a:spcAft>
              <a:defRPr sz="1800">
                <a:solidFill>
                  <a:srgbClr val="1E1E1E"/>
                </a:solidFill>
              </a:defRPr>
            </a:pPr>
            <a:r>
              <a:t>타입/고유값: high-cardinality·텍스트는 과적합 리스크 → 직접 입력보다 집계/토큰화 정책 필요</a:t>
            </a:r>
          </a:p>
          <a:p>
            <a:pPr>
              <a:spcAft>
                <a:spcPts val="400"/>
              </a:spcAft>
              <a:defRPr sz="1800">
                <a:solidFill>
                  <a:srgbClr val="1E1E1E"/>
                </a:solidFill>
              </a:defRPr>
            </a:pPr>
            <a:r>
              <a:t>단일 컬럼 신호: OOF AUC로 '진짜 신호' 후보를 빠르게 스캔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8321040" y="2834640"/>
          <a:ext cx="356616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83080"/>
                <a:gridCol w="1783080"/>
              </a:tblGrid>
              <a:tr h="300445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count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categorical_low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24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categorical_high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numeric_discrete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constant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text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numeric_continuous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22" name="TextBox 21"/>
          <p:cNvSpPr txBox="1"/>
          <p:nvPr/>
        </p:nvSpPr>
        <p:spPr>
          <a:xfrm>
            <a:off x="8321040" y="2514600"/>
            <a:ext cx="3566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5A5A5A"/>
                </a:solidFill>
              </a:defRPr>
            </a:pPr>
            <a:r>
              <a:t>컬럼 타입 요약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4. 결측/상수 컬럼 → '제거' 또는 '구조 변경'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모델 성능을 올리는 가장 빠른 방법은 노이즈를 빼는 것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pic>
        <p:nvPicPr>
          <p:cNvPr id="11" name="Picture 10" descr="missing_top3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554480"/>
            <a:ext cx="6400800" cy="4023360"/>
          </a:xfrm>
          <a:prstGeom prst="rect">
            <a:avLst/>
          </a:prstGeom>
        </p:spPr>
      </p:pic>
      <p:sp>
        <p:nvSpPr>
          <p:cNvPr id="12" name="TextBox 11"/>
          <p:cNvSpPr txBox="1"/>
          <p:nvPr/>
        </p:nvSpPr>
        <p:spPr>
          <a:xfrm>
            <a:off x="731520" y="5577840"/>
            <a:ext cx="64008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400">
                <a:solidFill>
                  <a:srgbClr val="5A5A5A"/>
                </a:solidFill>
              </a:defRPr>
            </a:pPr>
            <a:r>
              <a:t>결측 상위 30개 컬럼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406640" y="1737360"/>
          <a:ext cx="4663440" cy="24688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54480"/>
                <a:gridCol w="1554480"/>
                <a:gridCol w="1554480"/>
              </a:tblGrid>
              <a:tr h="27432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missing_rate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nunique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contest_award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idea_contest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100.0%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class4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99.9%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contest_participation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99.2%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class3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98.1%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previous_class_5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previous_class_3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</a:tr>
              <a:tr h="27432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previous_class_6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80.5%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406640" y="4480560"/>
            <a:ext cx="4663440" cy="2286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의사결정 규칙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100% 결측: 정보 없음 → drop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거의 상수(≈99% 동일): 분리 신호가 약함 → drop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이전 수강(previous_class_*): 원본은 결측 과다 → '개수/비율' 같은 집계형으로 변환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결론: 결측을 무작정 채우기보다, '사용 가능한 형태'로 재구성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5. 단일 컬럼도 신호가 있다 (단, 과적합 징후를 함께 본다)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Train AUC만 높으면 위험: OOF AUC + Gap으로 필터링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91640"/>
          <a:ext cx="60350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07008"/>
                <a:gridCol w="1207008"/>
                <a:gridCol w="1207008"/>
                <a:gridCol w="1207008"/>
                <a:gridCol w="1207008"/>
              </a:tblGrid>
              <a:tr h="32512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oof_auc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train_auc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auc_gap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what_to_gain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categorical_low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0.513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-0.063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certificate_acquisition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categorical_high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0.575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0.622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0.048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expected_domain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categorical_high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0.733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0.169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major_data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numeric_discrete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incumbents_company_level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categorical_low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-0.007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incumbents_level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categorical_low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0.503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-0.035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desired_certificate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categorical_high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0.537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0.681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0.143</a:t>
                      </a:r>
                    </a:p>
                  </a:txBody>
                  <a:tcPr/>
                </a:tc>
              </a:tr>
              <a:tr h="32512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completed_semester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numeric_discrete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0.000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2" name="Picture 11" descr="cat_target_rate__what_to_g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0" y="1600200"/>
            <a:ext cx="4983480" cy="2240280"/>
          </a:xfrm>
          <a:prstGeom prst="rect">
            <a:avLst/>
          </a:prstGeom>
        </p:spPr>
      </p:pic>
      <p:pic>
        <p:nvPicPr>
          <p:cNvPr id="13" name="Picture 12" descr="cat_target_rate__certificate_acquisiti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040880" y="3977639"/>
            <a:ext cx="4983480" cy="224028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7040880" y="6263640"/>
            <a:ext cx="49834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5A5A5A"/>
                </a:solidFill>
              </a:defRPr>
            </a:pPr>
            <a:r>
              <a:t>상위 신호 예시: what_to_gain / certificate_acquisition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31520" y="4754880"/>
            <a:ext cx="6035040" cy="20116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해석 포인트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OOF AUC가 높은 컬럼은 '진짜 신호' 가능성 ↑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train_auc가 과도하고 gap이 큰 컬럼(예: expected_domain, 텍스트)은 과적합/누수 위험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→ 따라서 '그대로 넣기'보다 '가설 기반 집계' + '드리프트 체크'로 안정화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6. 텍스트 컬럼 처리 전략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고유값이 많아 과적합 위험 → '길이/응답패턴' 중심의 가설 피처로 제한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691640"/>
          <a:ext cx="5669280" cy="1463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33856"/>
                <a:gridCol w="1133856"/>
                <a:gridCol w="1133856"/>
                <a:gridCol w="1133856"/>
                <a:gridCol w="1133856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column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avg_len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nunique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missing_rate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empty_rate(non-null)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incumbents_lecture_scale_reason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25.800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691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0.4%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interested_company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6.700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438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0.0%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0.1%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3383280"/>
            <a:ext cx="566928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문제: 텍스트는 nunique가 매우 큼(691/438) → 단순 OneHot나 그대로 사용 시 과적합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선택: TF-IDF/임베딩을 무리하게 쓰기보다,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(H4) 응답 성실도: 길이·빈칸 여부·선택 폭 같은 '안정적인 요약 통계'로만 사용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그리고 드리프트(Train-Test)에서 shift가 큰 경우 core에서 제외</a:t>
            </a:r>
          </a:p>
        </p:txBody>
      </p:sp>
      <p:pic>
        <p:nvPicPr>
          <p:cNvPr id="13" name="Picture 12" descr="text_len__interested_compan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691640"/>
            <a:ext cx="5303520" cy="2194560"/>
          </a:xfrm>
          <a:prstGeom prst="rect">
            <a:avLst/>
          </a:prstGeom>
        </p:spPr>
      </p:pic>
      <p:pic>
        <p:nvPicPr>
          <p:cNvPr id="14" name="Picture 13" descr="text_len__incumbents_lecture_scale_reason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0" y="3886200"/>
            <a:ext cx="5303520" cy="219456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766560" y="617220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5A5A5A"/>
                </a:solidFill>
              </a:defRPr>
            </a:pPr>
            <a:r>
              <a:t>텍스트 길이 분포(두 텍스트 컬럼)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7. EDA → 가설(H1~H5) → 파생 피처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설명 가능 + 재현성 + 안정성을 동시에 확보하기 위한 프레임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566928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가설을 먼저 정의한 이유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무작정 모든 컬럼을 넣지 않고, '왜 수료할까?'를 설명 가능한 구조로 정리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고유값 많은 컬럼/텍스트를 직접 쓰지 않고, '요약 통계/집계'로 신호를 안정화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수업발표에서 '의사결정 근거'를 명확하게 전달 가능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160520"/>
          <a:ext cx="11430000" cy="2377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05000"/>
                <a:gridCol w="1905000"/>
                <a:gridCol w="1905000"/>
                <a:gridCol w="1905000"/>
                <a:gridCol w="1905000"/>
                <a:gridCol w="1905000"/>
              </a:tblGrid>
              <a:tr h="39624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ID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가설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대표 피처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best OOF AUC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근거수준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shift high 비율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사전 학습경험이 높을수록 수료율이 높다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h1_prev_class_count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데이터 커리어 정합성이 높을수록 수료율이 높다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h2_acquired_cert_cnt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strong_with_shift_risk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40%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투입 가능 시간과 참여 방식이 적극적일수록 수료율이 높다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h3_hope_offline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응답 구체성/성실도가 높을수록 수료율이 높다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h4_text_len_reason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weak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33%</a:t>
                      </a:r>
                    </a:p>
                  </a:txBody>
                  <a:tcPr/>
                </a:tc>
              </a:tr>
              <a:tr h="39624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모집채널/동기 유형별로 완주 확률이 다르다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h5_inflow_organic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moderate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0%</a:t>
                      </a:r>
                    </a:p>
                  </a:txBody>
                  <a:tcPr/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8. 파생 피처를 '검증 가능한 단위'로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OOF AUC + 효과 크기(effect_range) + Shift를 함께 기록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585216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피처 설계 방식(예시)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previous_class_* → '이전 수강 개수' 같은 집계형(h1_prev_class_count)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자격증/희망직무 → '데이터 직무 정합성 점수'(h2_alignment_score)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응답 성실도 → 텍스트 길이, 선택 폭, 복잡도 지표(h4_*)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각 피처는 (신호)·(효과)·(shift)·(누수검토) 메타데이터로 관리 → 피처셋을 안전하게 구성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800600"/>
          <a:ext cx="5852154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36022"/>
                <a:gridCol w="836022"/>
                <a:gridCol w="836022"/>
                <a:gridCol w="836022"/>
                <a:gridCol w="836022"/>
                <a:gridCol w="836022"/>
                <a:gridCol w="836022"/>
              </a:tblGrid>
              <a:tr h="24003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H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type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oof_auc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effect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shift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action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h2_acquired_cert_cnt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0.578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0.215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HIGH_PRIORITY_FEATURE</a:t>
                      </a: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h1_prev_class_count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TRY_WITH_REGULARIZATION</a:t>
                      </a: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h1_previous_any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TRY_WITH_REGULARIZATION</a:t>
                      </a: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h1_reregistration_yes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TRY_WITH_REGULARIZATION</a:t>
                      </a: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h1_experience_score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TRY_WITH_REGULARIZATION</a:t>
                      </a: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h5_inflow_organic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binary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0.095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BACKUP_FEATURE</a:t>
                      </a:r>
                    </a:p>
                  </a:txBody>
                  <a:tcPr/>
                </a:tc>
              </a:tr>
              <a:tr h="24003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h2_alignment_score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numeric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0.551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0.129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medium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TRY_WITH_REGULARIZATION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731520" y="4526280"/>
            <a:ext cx="585216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5A5A5A"/>
                </a:solidFill>
              </a:defRPr>
            </a:pPr>
            <a:r>
              <a:t>Blueprint 예시(상위 priority)</a:t>
            </a:r>
          </a:p>
        </p:txBody>
      </p:sp>
      <p:pic>
        <p:nvPicPr>
          <p:cNvPr id="14" name="Picture 13" descr="multiselect_token_riskdiff__expected_dom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1828800"/>
            <a:ext cx="5212080" cy="384048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858000" y="5715000"/>
            <a:ext cx="521208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5A5A5A"/>
                </a:solidFill>
              </a:defRPr>
            </a:pPr>
            <a:r>
              <a:t>멀티셀렉트 토큰별 수료율 차이(예: expected_domain)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858000" y="6035040"/>
            <a:ext cx="52120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멀티셀렉트 컬럼은 쉼표로 분해 후 token을 multi-hot으로 변환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• 너무 희귀한 토큰은 과적합 → min_count로 필터링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9. Train–Test 드리프트 점검(PSI/JS)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좋아 보이는 피처가 실전에서 망가지는 대표 원인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691640"/>
            <a:ext cx="5577840" cy="4389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왜 필요한가?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대회에서는 Train 분포와 Test 분포가 다를 수 있음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특히 텍스트 기반/응답 패턴 피처는 분포 이동이 자주 발생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정책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shift_level=high 피처는 core에서 제외(또는 exp에서만 실험)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최종 선택은 CV 성능 + shift 안정성을 함께 고려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1920240"/>
          <a:ext cx="5577840" cy="274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29640"/>
                <a:gridCol w="929640"/>
                <a:gridCol w="929640"/>
                <a:gridCol w="929640"/>
                <a:gridCol w="929640"/>
                <a:gridCol w="929640"/>
              </a:tblGrid>
              <a:tr h="391885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feature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metric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value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level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train_mean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test_mean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h4_response_complexity_score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2.202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12.480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9.400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h4_choice_breadth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2.019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9.140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6.190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h2_desired_cert_cnt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0.328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2.450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3.120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h2_desired_job_data_cnt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js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0.163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high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1.440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0.780</a:t>
                      </a:r>
                    </a:p>
                  </a:txBody>
                  <a:tcPr/>
                </a:tc>
              </a:tr>
              <a:tr h="391885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h3_time_input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0.097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2.330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2.520</a:t>
                      </a:r>
                    </a:p>
                  </a:txBody>
                  <a:tcPr/>
                </a:tc>
              </a:tr>
              <a:tr h="39189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h4_text_len_company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psi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0.093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low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6.710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5.270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83680" y="164592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5A5A5A"/>
                </a:solidFill>
              </a:defRPr>
            </a:pPr>
            <a:r>
              <a:t>shift 상위 피처(예시)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937760"/>
            <a:ext cx="5577840" cy="11887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결과적으로 core(shift 낮은 피처 중심)가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core_plus_exp(추가 피처 포함)보다 CV 성능/안정성이 더 좋았음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10. 피처셋을 2개로 분리해 '안정성 vs 탐색'을 분리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core(안정) / core_plus_exp(탐색) → 동일한 파이프라인으로 공정 비교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737360"/>
          <a:ext cx="5486400" cy="1371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  <a:gridCol w="1828800"/>
              </a:tblGrid>
              <a:tr h="457200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141414"/>
                          </a:solidFill>
                        </a:defRPr>
                      </a:pPr>
                      <a:r>
                        <a:t>feature set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141414"/>
                          </a:solidFill>
                        </a:defRPr>
                      </a:pPr>
                      <a:r>
                        <a:t>설명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141414"/>
                          </a:solidFill>
                        </a:defRPr>
                      </a:pPr>
                      <a:r>
                        <a:t>피처 수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core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shift 낮은 안정 피처 위주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30</a:t>
                      </a:r>
                    </a:p>
                  </a:txBody>
                  <a:tcPr/>
                </a:tc>
              </a:tr>
              <a:tr h="45720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core_plus_exp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추가 실험 피처 포함(shift risk 포함)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44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3383280"/>
            <a:ext cx="5486400" cy="3383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구현(재현성)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feature_set_v1_spec.json: raw_keep / raw_drop / engineered_core / engineered_exp 목록으로 관리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build_feature_set_v1.py: 동일한 로직으로 train/test에 파생피처 생성 후 core &amp; exp 데이터셋 저장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장점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'피처가 늘면 좋아진다'라는 착시를 방지 → ablation이 쉬움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발표에서 '왜 최종은 core인가'를 근거로 설명 가능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583680" y="1920240"/>
            <a:ext cx="5486400" cy="274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산출물 구조(요약)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eda_output_v3/&lt;timestamp&gt;/  (reports/*.csv, figures/*.png)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feature_sets/data/  (train_core.csv, test_core.csv, ...)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model_output_v1/&lt;timestamp&gt;/  (metrics, oof, submission, summary.json)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583680" y="4937760"/>
            <a:ext cx="128016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Spec(JSON)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7863840" y="5280660"/>
            <a:ext cx="22860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8092440" y="4937760"/>
            <a:ext cx="128016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Feature Build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9372600" y="5280660"/>
            <a:ext cx="22860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9601200" y="4937760"/>
            <a:ext cx="128016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Train/CV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10881360" y="5280660"/>
            <a:ext cx="22860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11109959" y="4937760"/>
            <a:ext cx="1280160" cy="68580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Submission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11. 전처리 파이프라인(희소 행렬)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수치/범주/멀티셀렉트 각각 최적 변환 → 선형모델에 투입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760720" cy="3017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전처리 원칙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수치형: median impute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범주형: most_frequent impute + OneHot(handle_unknown=ignore)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멀티셀렉트: 쉼표 split → token multi-hot (min_count로 희귀 토큰 제거)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결과: 고차원 희소(sparse) 행렬 → LogisticRegression(SAGA) / SGDClassifier가 효율적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31520" y="4937760"/>
            <a:ext cx="5760720" cy="1554480"/>
          </a:xfrm>
          <a:prstGeom prst="rect">
            <a:avLst/>
          </a:prstGeom>
          <a:solidFill>
            <a:srgbClr val="FAFAFA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>
                <a:solidFill>
                  <a:srgbClr val="282828"/>
                </a:solidFill>
                <a:latin typeface="Consolas"/>
              </a:defRPr>
            </a:pPr>
            <a:r>
              <a:t>ColumnTransformer([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  ('num', Imputer(median), numeric_cols),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  ('cat', Imputer(most_freq)+OneHot, cat_cols),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  ('ms', MultiSelectVectorizer(min_count=5), ms_cols)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])</a:t>
            </a:r>
          </a:p>
          <a:p>
            <a:pPr>
              <a:defRPr sz="1400">
                <a:solidFill>
                  <a:srgbClr val="282828"/>
                </a:solidFill>
                <a:latin typeface="Consolas"/>
              </a:defRPr>
            </a:pPr>
            <a:r>
              <a:t>→ sparse matrix → linear models</a:t>
            </a:r>
          </a:p>
        </p:txBody>
      </p:sp>
      <p:pic>
        <p:nvPicPr>
          <p:cNvPr id="13" name="Picture 12" descr="box__time_input_by_targe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0" y="1828800"/>
            <a:ext cx="5303520" cy="36576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766560" y="557784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5A5A5A"/>
                </a:solidFill>
              </a:defRPr>
            </a:pPr>
            <a:r>
              <a:t>예시: time_input(투입시간) vs 수료율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766560" y="5852160"/>
            <a:ext cx="5303520" cy="8229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수치형/범주형 모두 '가설'에 맞춰 해석 후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피처로 반영 → 전처리 파이프라인에 자연스럽게 결합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12. 모델 학습 설계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작은 데이터 + 희소 피처 → '선형모델 + CV + 앙상블'이 합리적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760720" cy="42062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CV 설정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StratifiedKFold(n_splits=5, shuffle=True, random_state=42)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fold별로 OOF 예측을 모아 전체 OOF metric 계산(누수 방지)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모델 선택 이유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OneHot/멀티핫 → 희소 고차원: 트리계열보다 선형모델이 안정/효율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class_weight + threshold 최적화로 F1에 직접 대응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6583680" y="1828800"/>
          <a:ext cx="557784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88920"/>
                <a:gridCol w="2788920"/>
              </a:tblGrid>
              <a:tr h="4876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모델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141414"/>
                          </a:solidFill>
                        </a:defRPr>
                      </a:pPr>
                      <a:r>
                        <a:t>핵심 설정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LogReg(L2, balanced)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solver=saga, C=1.0, class_weight=balanced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LogReg(L1, balanced)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solver=saga, C=0.5, class_weight=balanced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LogReg(L2, unweighted)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solver=saga, C=1.0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SGD(logloss)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early-stopping 대신 고정 iter, 확률 보정 없음(간단 baseline)</a:t>
                      </a:r>
                    </a:p>
                  </a:txBody>
                  <a:tcPr/>
                </a:tc>
              </a:tr>
              <a:tr h="487680"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Blend(mean)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200">
                          <a:solidFill>
                            <a:srgbClr val="1E1E1E"/>
                          </a:solidFill>
                        </a:defRPr>
                      </a:pPr>
                      <a:r>
                        <a:t>OOF 확률 평균(선형모델 앙상블)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3" name="TextBox 12"/>
          <p:cNvSpPr txBox="1"/>
          <p:nvPr/>
        </p:nvSpPr>
        <p:spPr>
          <a:xfrm>
            <a:off x="6583680" y="1554480"/>
            <a:ext cx="55778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5A5A5A"/>
                </a:solidFill>
              </a:defRPr>
            </a:pPr>
            <a:r>
              <a:t>실험 모델군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583680" y="4937760"/>
            <a:ext cx="557784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추가로 core vs core+exp를 동일 조건에서 비교하여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‘피처 증가’가 아닌 ‘일반화’가 목표임을 유지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13. 학습 결과: core 피처셋(최종 선택)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Blend가 단일 모델보다 안정적으로 우수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731520" y="1737360"/>
          <a:ext cx="5760720" cy="2194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52144"/>
                <a:gridCol w="1152144"/>
                <a:gridCol w="1152144"/>
                <a:gridCol w="1152144"/>
                <a:gridCol w="1152144"/>
              </a:tblGrid>
              <a:tr h="438912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model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CV AUC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CV F1(reg)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thr(reg)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141414"/>
                          </a:solidFill>
                        </a:defRPr>
                      </a:pPr>
                      <a:r>
                        <a:t>pred_pos_rate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blend_mean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0.569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0.476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0.190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0.753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lr_l1_balanced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0.585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0.471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0.395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0.656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lr_l2_unweighted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0.560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0.195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0.664</a:t>
                      </a:r>
                    </a:p>
                  </a:txBody>
                  <a:tcPr/>
                </a:tc>
              </a:tr>
              <a:tr h="438912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lr_l2_balanced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0.559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0.450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0.340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1E1E1E"/>
                          </a:solidFill>
                        </a:defRPr>
                      </a:pPr>
                      <a:r>
                        <a:t>0.671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12" name="TextBox 11"/>
          <p:cNvSpPr txBox="1"/>
          <p:nvPr/>
        </p:nvSpPr>
        <p:spPr>
          <a:xfrm>
            <a:off x="731520" y="4206240"/>
            <a:ext cx="5760720" cy="23774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최종 선택: core + blend_mean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CV F1(reg)=0.476, CV AUC=0.569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threshold(reg)=0.19 (F1 극대화와 예측 양성 비율 페널티를 함께 고려)</a:t>
            </a:r>
          </a:p>
        </p:txBody>
      </p:sp>
      <p:pic>
        <p:nvPicPr>
          <p:cNvPr id="13" name="Picture 12" descr="core_vs_ex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2011680"/>
            <a:ext cx="5303520" cy="329184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6675120" y="53949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300">
                <a:solidFill>
                  <a:srgbClr val="5A5A5A"/>
                </a:solidFill>
              </a:defRPr>
            </a:pPr>
            <a:r>
              <a:t>core vs core+exp (CV F1(reg), CV AUC)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675120" y="5760720"/>
            <a:ext cx="530352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core_plus_exp는 피처가 44개로 늘었지만 F1(reg)가 0.463로 하락</a:t>
            </a:r>
          </a:p>
          <a:p>
            <a:pPr>
              <a:spcAft>
                <a:spcPts val="400"/>
              </a:spcAft>
              <a:defRPr sz="1400">
                <a:solidFill>
                  <a:srgbClr val="1E1E1E"/>
                </a:solidFill>
              </a:defRPr>
            </a:pPr>
            <a:r>
              <a:t>→ 드리프트/과적합 위험 피처가 포함되면 오히려 성능이 떨어질 수 있음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14. Threshold 최적화 (F1을 진짜로 올리는 단계)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같은 모델이라도 threshold에 따라 F1이 크게 달라짐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제출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1737360"/>
            <a:ext cx="5760720" cy="21031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방법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OOF 확률에 대해 threshold grid-search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기본: F1 최대화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추가: 예측 양성비율이 target 비율과 너무 다르면 페널티(λ=0.15) → 과도한 양성/음성 쏠림 방지</a:t>
            </a:r>
          </a:p>
        </p:txBody>
      </p:sp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731520" y="4023360"/>
          <a:ext cx="5760720" cy="210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880360"/>
                <a:gridCol w="2880360"/>
              </a:tblGrid>
              <a:tr h="300445"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141414"/>
                          </a:solidFill>
                        </a:defRPr>
                      </a:pPr>
                      <a:r>
                        <a:t>항목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600">
                          <a:solidFill>
                            <a:srgbClr val="141414"/>
                          </a:solidFill>
                        </a:defRPr>
                      </a:pPr>
                      <a:r>
                        <a:t>값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selected threshold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0.19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OOF F1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0.476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Precision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0.332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Recall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0.839</a:t>
                      </a:r>
                    </a:p>
                  </a:txBody>
                  <a:tcPr/>
                </a:tc>
              </a:tr>
              <a:tr h="300445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pred_pos_rate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0.753</a:t>
                      </a:r>
                    </a:p>
                  </a:txBody>
                  <a:tcPr/>
                </a:tc>
              </a:tr>
              <a:tr h="300450"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target_pos_rate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1600">
                          <a:solidFill>
                            <a:srgbClr val="1E1E1E"/>
                          </a:solidFill>
                        </a:defRPr>
                      </a:pPr>
                      <a:r>
                        <a:t>0.298</a:t>
                      </a:r>
                    </a:p>
                  </a:txBody>
                  <a:tcPr/>
                </a:tc>
              </a:tr>
            </a:tbl>
          </a:graphicData>
        </a:graphic>
      </p:graphicFrame>
      <p:pic>
        <p:nvPicPr>
          <p:cNvPr id="13" name="Picture 12" descr="threshold_tradeoff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75120" y="1783080"/>
            <a:ext cx="5303520" cy="2377440"/>
          </a:xfrm>
          <a:prstGeom prst="rect">
            <a:avLst/>
          </a:prstGeom>
        </p:spPr>
      </p:pic>
      <p:pic>
        <p:nvPicPr>
          <p:cNvPr id="14" name="Picture 13" descr="threshold_objectiv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5120" y="4251960"/>
            <a:ext cx="5303520" cy="23774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6675120" y="6537960"/>
            <a:ext cx="530352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200">
                <a:solidFill>
                  <a:srgbClr val="5A5A5A"/>
                </a:solidFill>
              </a:defRPr>
            </a:pPr>
            <a:r>
              <a:t>threshold별 F1/Precision/Recall 및 (F1-페널티) 목적함수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48640" y="274320"/>
            <a:ext cx="1115568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3400" b="1">
                <a:solidFill>
                  <a:srgbClr val="141414"/>
                </a:solidFill>
              </a:rPr>
              <a:t>15. 최종 제출 &amp; 핵심 인사이트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960120"/>
            <a:ext cx="1115568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800">
                <a:solidFill>
                  <a:srgbClr val="505050"/>
                </a:solidFill>
              </a:rPr>
              <a:t>EDA→가설→피처→드리프트→CV→Threshold: 한 줄로 이어진 파이프라인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문제/데이터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142308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EDA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3735977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가설·피처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329645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드리프트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923314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모델·CV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16982" y="1097280"/>
            <a:ext cx="1547948" cy="457200"/>
          </a:xfrm>
          <a:prstGeom prst="roundRect">
            <a:avLst/>
          </a:prstGeom>
          <a:solidFill>
            <a:srgbClr val="E6EBF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3C3C3C"/>
                </a:solidFill>
              </a:defRPr>
            </a:pPr>
            <a:r>
              <a:t>Threshold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0110651" y="1097280"/>
            <a:ext cx="1547948" cy="457200"/>
          </a:xfrm>
          <a:prstGeom prst="roundRect">
            <a:avLst/>
          </a:prstGeom>
          <a:solidFill>
            <a:srgbClr val="1E5AA0"/>
          </a:solidFill>
          <a:ln>
            <a:solidFill>
              <a:srgbClr val="C8C8C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1">
                <a:solidFill>
                  <a:srgbClr val="FFFFFF"/>
                </a:solidFill>
              </a:defRPr>
            </a:pPr>
            <a:r>
              <a:t>제출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31520" y="178308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EDA 산출물</a:t>
            </a:r>
            <a:br/>
            <a:r>
              <a:t>(reports/figures)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560320" y="2194560"/>
            <a:ext cx="18288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743200" y="178308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가설 피처 생성</a:t>
            </a:r>
            <a:br/>
            <a:r>
              <a:t>(build_hypothesis_features)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4572000" y="2194560"/>
            <a:ext cx="18288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4754880" y="178308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피처셋 생성</a:t>
            </a:r>
            <a:br/>
            <a:r>
              <a:t>(core/exp)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6583680" y="2194560"/>
            <a:ext cx="18288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766560" y="178308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전처리+학습</a:t>
            </a:r>
            <a:br/>
            <a:r>
              <a:t>(5-fold OOF)</a:t>
            </a:r>
          </a:p>
        </p:txBody>
      </p:sp>
      <p:cxnSp>
        <p:nvCxnSpPr>
          <p:cNvPr id="18" name="Connector 17"/>
          <p:cNvCxnSpPr/>
          <p:nvPr/>
        </p:nvCxnSpPr>
        <p:spPr>
          <a:xfrm>
            <a:off x="8595360" y="2194560"/>
            <a:ext cx="18288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9" name="Rounded Rectangle 18"/>
          <p:cNvSpPr/>
          <p:nvPr/>
        </p:nvSpPr>
        <p:spPr>
          <a:xfrm>
            <a:off x="8778240" y="178308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threshold 최적화</a:t>
            </a:r>
            <a:br/>
            <a:r>
              <a:t>(F1+penalty)</a:t>
            </a:r>
          </a:p>
        </p:txBody>
      </p:sp>
      <p:cxnSp>
        <p:nvCxnSpPr>
          <p:cNvPr id="20" name="Connector 19"/>
          <p:cNvCxnSpPr/>
          <p:nvPr/>
        </p:nvCxnSpPr>
        <p:spPr>
          <a:xfrm>
            <a:off x="10607040" y="2194560"/>
            <a:ext cx="182880" cy="0"/>
          </a:xfrm>
          <a:prstGeom prst="line">
            <a:avLst/>
          </a:prstGeom>
          <a:ln w="25400">
            <a:solidFill>
              <a:srgbClr val="8C8C8C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ounded Rectangle 20"/>
          <p:cNvSpPr/>
          <p:nvPr/>
        </p:nvSpPr>
        <p:spPr>
          <a:xfrm>
            <a:off x="10789920" y="1783080"/>
            <a:ext cx="1828800" cy="822960"/>
          </a:xfrm>
          <a:prstGeom prst="roundRect">
            <a:avLst/>
          </a:prstGeom>
          <a:solidFill>
            <a:srgbClr val="F5F7FA"/>
          </a:solidFill>
          <a:ln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400" b="1"/>
            </a:pPr>
            <a:r>
              <a:t>submission.csv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1520" y="3017520"/>
            <a:ext cx="11338560" cy="3657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최종 성능(OOF 기준)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core + blend_mean: CV F1(reg)=0.476, CV AUC=0.569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핵심 인사이트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1) 작은 표본에서는 '강한 피처'보다 '안정한 피처'가 승부를 가른다(드리프트/과적합 통제)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2) F1 문제는 threshold 최적화가 필수 → 모델링과 같은 비중으로 다룬다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3) 가설 기반 피처는 설명 가능성 + 재현성 + ablation 용이성을 동시에 제공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추가 개선 아이디어(다음 실험)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calibration(Platt/Isotonic) 후 threshold 재최적화</a:t>
            </a:r>
          </a:p>
          <a:p>
            <a:pPr>
              <a:spcAft>
                <a:spcPts val="400"/>
              </a:spcAft>
              <a:defRPr sz="1600">
                <a:solidFill>
                  <a:srgbClr val="1E1E1E"/>
                </a:solidFill>
              </a:defRPr>
            </a:pPr>
            <a:r>
              <a:t>• group-aware CV(응답/기관 등 잠재 그룹이 있다면)로 일반화 강화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