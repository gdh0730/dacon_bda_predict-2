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0 (미수료)</c:v>
                </c:pt>
                <c:pt idx="1">
                  <c:v>1 (수료)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525</c:v>
                </c:pt>
                <c:pt idx="1">
                  <c:v>223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cat_low</c:v>
                  </c:pt>
                  <c:pt idx="1">
                    <c:v>cat_high</c:v>
                  </c:pt>
                  <c:pt idx="2">
                    <c:v>numeric</c:v>
                  </c:pt>
                  <c:pt idx="3">
                    <c:v>text</c:v>
                  </c:pt>
                  <c:pt idx="4">
                    <c:v>constant</c:v>
                  </c:pt>
                  <c:pt idx="5">
                    <c:v>id/target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7</c:v>
                </c:pt>
                <c:pt idx="2">
                  <c:v>7</c:v>
                </c:pt>
                <c:pt idx="3">
                  <c:v>2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contest_award</c:v>
                  </c:pt>
                  <c:pt idx="1">
                    <c:v>idea_contest</c:v>
                  </c:pt>
                  <c:pt idx="2">
                    <c:v>class4</c:v>
                  </c:pt>
                  <c:pt idx="3">
                    <c:v>contest_participation</c:v>
                  </c:pt>
                  <c:pt idx="4">
                    <c:v>class3</c:v>
                  </c:pt>
                  <c:pt idx="5">
                    <c:v>previous_class_5</c:v>
                  </c:pt>
                  <c:pt idx="6">
                    <c:v>previous_class_3</c:v>
                  </c:pt>
                  <c:pt idx="7">
                    <c:v>previous_class_6</c:v>
                  </c:pt>
                  <c:pt idx="8">
                    <c:v>previous_class_8</c:v>
                  </c:pt>
                  <c:pt idx="9">
                    <c:v>previous_class_7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99.9</c:v>
                </c:pt>
                <c:pt idx="3">
                  <c:v>99.2</c:v>
                </c:pt>
                <c:pt idx="4">
                  <c:v>98.1</c:v>
                </c:pt>
                <c:pt idx="5">
                  <c:v>80.5</c:v>
                </c:pt>
                <c:pt idx="6">
                  <c:v>80.5</c:v>
                </c:pt>
                <c:pt idx="7">
                  <c:v>80.5</c:v>
                </c:pt>
                <c:pt idx="8">
                  <c:v>80.5</c:v>
                </c:pt>
                <c:pt idx="9">
                  <c:v>80.5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Answered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아니요 (n=602)</c:v>
                  </c:pt>
                  <c:pt idx="1">
                    <c:v>예 (n=146)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1개 (n=579)</c:v>
                  </c:pt>
                  <c:pt idx="1">
                    <c:v>2개 (n=155)</c:v>
                  </c:pt>
                  <c:pt idx="2">
                    <c:v>3개 (n=13)</c:v>
                  </c:pt>
                  <c:pt idx="3">
                    <c:v>4개 (n=1)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28.2</c:v>
                </c:pt>
                <c:pt idx="1">
                  <c:v>35.5</c:v>
                </c:pt>
                <c:pt idx="2">
                  <c:v>38.5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아니요 (n=602)</c:v>
                  </c:pt>
                  <c:pt idx="1">
                    <c:v>예 (n=146)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27.1</c:v>
                </c:pt>
                <c:pt idx="1">
                  <c:v>41.1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에브리타임 (n=340)</c:v>
                  </c:pt>
                  <c:pt idx="1">
                    <c:v>기존 학회원 또는 운영진 (n=150)</c:v>
                  </c:pt>
                  <c:pt idx="2">
                    <c:v>인스타그램 (n=121)</c:v>
                  </c:pt>
                  <c:pt idx="3">
                    <c:v>지인 추천 (n=78)</c:v>
                  </c:pt>
                  <c:pt idx="4">
                    <c:v>대외활동 사이트(링커리어, 캠퍼스픽, 캠퍼즈, 위비티 등) (n=55)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26.5</c:v>
                </c:pt>
                <c:pt idx="1">
                  <c:v>40.7</c:v>
                </c:pt>
                <c:pt idx="2">
                  <c:v>25.6</c:v>
                </c:pt>
                <c:pt idx="3">
                  <c:v>26.9</c:v>
                </c:pt>
                <c:pt idx="4">
                  <c:v>36.4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단일 전공 (n=410)</c:v>
                  </c:pt>
                  <c:pt idx="1">
                    <c:v>복수 전공 (n=315)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26.6</c:v>
                </c:pt>
                <c:pt idx="1">
                  <c:v>33.7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오프라인 (n=106)</c:v>
                  </c:pt>
                  <c:pt idx="1">
                    <c:v>온, 오프라인 동시 (n=511)</c:v>
                  </c:pt>
                  <c:pt idx="2">
                    <c:v>온라인 (n=131)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24.5</c:v>
                </c:pt>
                <c:pt idx="1">
                  <c:v>29.2</c:v>
                </c:pt>
                <c:pt idx="2">
                  <c:v>36.6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없음 (n=460)</c:v>
                  </c:pt>
                  <c:pt idx="1">
                    <c:v>ADsP (n=107)</c:v>
                  </c:pt>
                  <c:pt idx="2">
                    <c:v>ADsP, SQLD (n=66)</c:v>
                  </c:pt>
                  <c:pt idx="3">
                    <c:v>SQLD (n=48)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33.6</c:v>
                </c:pt>
                <c:pt idx="2">
                  <c:v>42.4</c:v>
                </c:pt>
                <c:pt idx="3">
                  <c:v>41.7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1-2 (n=31)</c:v>
                  </c:pt>
                  <c:pt idx="1">
                    <c:v>3-4 (n=144)</c:v>
                  </c:pt>
                  <c:pt idx="2">
                    <c:v>5-6 (n=245)</c:v>
                  </c:pt>
                  <c:pt idx="3">
                    <c:v>7-8 (n=267)</c:v>
                  </c:pt>
                  <c:pt idx="4">
                    <c:v>9-10 (n=29)</c:v>
                  </c:pt>
                  <c:pt idx="5">
                    <c:v>Invalid/NA (n=32)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9.7</c:v>
                </c:pt>
                <c:pt idx="1">
                  <c:v>22.9</c:v>
                </c:pt>
                <c:pt idx="2">
                  <c:v>36.7</c:v>
                </c:pt>
                <c:pt idx="3">
                  <c:v>29.2</c:v>
                </c:pt>
                <c:pt idx="4">
                  <c:v>31</c:v>
                </c:pt>
                <c:pt idx="5">
                  <c:v>31.3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B. 데이터 분석가</c:v>
                  </c:pt>
                  <c:pt idx="1">
                    <c:v>C. 데이터 사이언티스트</c:v>
                  </c:pt>
                  <c:pt idx="2">
                    <c:v>A. 데이터 엔지니어</c:v>
                  </c:pt>
                  <c:pt idx="3">
                    <c:v>D. 인공지능 전문가</c:v>
                  </c:pt>
                  <c:pt idx="4">
                    <c:v>G. PM/서비스 기획자</c:v>
                  </c:pt>
                  <c:pt idx="5">
                    <c:v>I. 마케터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482</c:v>
                </c:pt>
                <c:pt idx="1">
                  <c:v>298</c:v>
                </c:pt>
                <c:pt idx="2">
                  <c:v>180</c:v>
                </c:pt>
                <c:pt idx="3">
                  <c:v>117</c:v>
                </c:pt>
                <c:pt idx="4">
                  <c:v>110</c:v>
                </c:pt>
                <c:pt idx="5">
                  <c:v>109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dataset: train.csv (aggregations computed for this deck)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dataset: train.csv (target counts/pos-rate computed)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dataset: train.csv (column-type counts derived from EDA code heuristics)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dataset: train.csv (missing-rate computed)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dataset: train.csv (re_registration/previous_class pattern and class-count completion computed)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dataset: train.csv (completion rates by re_registration and inflow_route computed)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dataset: train.csv (completion rates by major type / lecture type / certificate computed)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dataset: train.csv (completed_semester bins and invalid counts computed)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dataset: train.csv (desired_job token counts and text profiles computed)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dataset: train.csv (EDA-derived recommendations)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188720"/>
            <a:ext cx="1060704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80160" y="182880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결과 요약 보고서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280160" y="251460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train.csv 기반 · 품질 검수 + 구조/결측 해석 + 수료(타깃) 신호 요약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3063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Rows: 748 · Cols: 46 | Target(1)=223 (29.8%)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65392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Generated from user-provided data (train.csv) • 2026-01-26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데이터 개요 &amp; 타깃 분포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3832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중복=0 · ID 유니크=748/748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356616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07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748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80560" y="1005840"/>
            <a:ext cx="356616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207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Columns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508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412480" y="1005840"/>
            <a:ext cx="356616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0" y="1207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0" y="1508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29.8%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48640" y="2331720"/>
            <a:ext cx="5760720" cy="4160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249631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분포 (completed)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822960" y="2926080"/>
          <a:ext cx="52120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583680" y="2331720"/>
            <a:ext cx="5029200" cy="4160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858000" y="249631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해석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03720" y="283464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수료(1) 비율 ≈ 29.8% → F1 최적화를 위해 임계값 튜닝/불균형 대응이 중요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행 0개 → 기본 품질 양호 (단, 특정 컬럼의 구조적 결측/오입력은 별도 이슈)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설문/범주형 중심 데이터 → 인코딩 전략(특히 다중선택 문자열) 성능에 직접 영향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컬럼 구성 &amp; 데이터 성격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3832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설문형(범주) + 다중선택 문자열 + 자유서술 텍스트가 혼재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576072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6187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타입 분류(휴리스틱)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1600200"/>
          <a:ext cx="52120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39776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cat_low: 저카디널 범주형(예/아니요 등)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cat_high: 고카디널/다중선택 조합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numeric: 수치/코드형(일부는 범주코드)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text: 자유서술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583680" y="1097280"/>
            <a:ext cx="5029200" cy="5394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0" y="126187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모델링 관점 핵심 포인트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03720" y="1600200"/>
            <a:ext cx="44805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결측(질문 스킵)이 큼 → NaN을 단순 평균/최빈값으로 채우면 의미 훼손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다중선택이 “콤마로 합쳐진 문자열”로 저장 → 토큰 분해(멀티-핫/CountVectorizer) 필요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자유서술 텍스트 2개 컬럼: 고유값이 매우 많음 → TF-IDF/해싱/임베딩 고려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숫자처럼 보이는 코드(school1, class1 등) → 연속 수치로 취급하면 왜곡 위험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결측치 현황 (Top 10)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3832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결측은 “모름”이 아니라 “질문 스킵/해당 없음”인 경우가 다수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61872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결측률 상위 컬럼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1600200"/>
          <a:ext cx="105156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57424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가이드: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100% 결측/상수열은 정보가 없으므로 일반적으로 DROP 후보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previous_class_* / class2~ 등은 구조적 결측 가능성이 높아 “결측 자체”가 신호가 될 수 있음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구조적 결측과 참여도 신호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3832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re_registration / class1~4 블록에서 구조적 패턴이 뚜렷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5669280" cy="5440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6187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재등록 여부 vs 이전 기수 응답(모두 기입)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1600200"/>
          <a:ext cx="51206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406908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해석: previous_class_3~8 결측은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재등록(예)에서는 100% 채워지고,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재등록(아니요)에서는 0% 채워짐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“해당 없음” 결측(구조적 스킵)임.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1097280"/>
            <a:ext cx="5212080" cy="5440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26187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클래스 개수(파생) vs 수료율</a:t>
            </a:r>
            <a:endParaRPr lang="en-US" sz="13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675120" y="1600200"/>
          <a:ext cx="46634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6675120" y="45262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관찰: 1개 신청(28.2%) &lt; 2개(35.5%) &lt; 3개(38.5%)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“참여 의지/투자”를 반영하는 강한 행동 신호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수료와 연관된 신호(참여/채널)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3832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완전한 인과가 아니라 “관측된 연관성”임 (추후 모델/검증 필요)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566928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6187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재등록 여부 vs 수료율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1719072"/>
          <a:ext cx="5120640" cy="1801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977640"/>
            <a:ext cx="1106424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4142232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 경로(inflow_route) 상위 그룹 vs 수료율</a:t>
            </a:r>
            <a:endParaRPr lang="en-US" sz="13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822960" y="4434840"/>
          <a:ext cx="105156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수료와 연관된 신호(배경/선호)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3832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전공/자격증/강연 선호 등에서 수료율 차이가 관측됨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566928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6187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전공 형태(major type) vs 수료율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1719072"/>
          <a:ext cx="5120640" cy="1801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400800" y="1097280"/>
            <a:ext cx="521208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126187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현직자 강연 형태 선호 vs 수료율</a:t>
            </a:r>
            <a:endParaRPr lang="en-US" sz="13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675120" y="1719072"/>
          <a:ext cx="4663440" cy="1801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3977640"/>
            <a:ext cx="1106424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22960" y="4142232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 보유(certificate_acquisition) 상위 그룹 vs 수료율</a:t>
            </a:r>
            <a:endParaRPr lang="en-US" sz="1300" dirty="0"/>
          </a:p>
        </p:txBody>
      </p:sp>
      <p:graphicFrame>
        <p:nvGraphicFramePr>
          <p:cNvPr id="14" name="Chart 2" descr=""/>
          <p:cNvGraphicFramePr/>
          <p:nvPr/>
        </p:nvGraphicFramePr>
        <p:xfrm>
          <a:off x="822960" y="4434840"/>
          <a:ext cx="105156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데이터 품질 이슈: completed_semester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3832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학기 수 컬럼에 포맷 혼입/이상치가 존재 → 전처리 규칙이 필요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5669280" cy="5440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6187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학기 구간별 수료율 (정상 범위만 구간화)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1600200"/>
          <a:ext cx="5120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400800" y="1097280"/>
            <a:ext cx="5212080" cy="5440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126187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오입력/결측 요약 &amp; 권장 처리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75120" y="1783080"/>
            <a:ext cx="4663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결측: 28건 (3.7%)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비정상(&gt;20): 3건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비정상(&lt;1): 1건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최대값: 20241 (학기 수로 해석 불가)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전처리: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sem &lt; 1 또는 sem &gt; 20 → Invalid로 치환(또는 NaN)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sem이 YYYYx 형태면(예: 20241) 파싱 규칙 검토 후 복구, 불가하면 Invalid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Invalid 플래그(is_invalid_semester) 추가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다중선택 문자열 &amp; 텍스트 컬럼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3832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원-핫을 그대로 적용하면 차원 폭발/희소성 증가 → 분해/벡터화 필요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5669280" cy="5440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6187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desired_job 토큰 분해(콤마 기준)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160020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52578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개수(행 기준): 평균 2.05개 · 최대 7개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“조합 문자열” 그대로 쓰지 말고 토큰화(멀티-핫/CountVectorizer) 권장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1097280"/>
            <a:ext cx="5212080" cy="5440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26187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컬럼(자유서술) 프로파일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75120" y="1691640"/>
            <a:ext cx="466344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17647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052560" y="17647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고유값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12680" y="17647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길이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75120" y="2103120"/>
            <a:ext cx="4663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20840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incumbents_lecture_scale_reason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052560" y="22128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12680" y="22128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25.8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675120" y="2606040"/>
            <a:ext cx="4663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0840" y="2715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interested_company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052560" y="2715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438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012680" y="2715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6.7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675120" y="406908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처리: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incumbents_lecture_scale_reason: TF-IDF(문장) 또는 해싱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interested_company: 회사명 토큰화/정규화 + 빈도 상위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고카디널 범주형: 타깃 인코딩은 CV-fold 내부에서만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전처리/모델링 권장안 (EDA 기반)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3832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결론을 “구현 가능한 규칙”으로 고정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파이프라인(구현 규칙)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Drop / 고정 규칙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5166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generation, contest_award, idea_contest, class4 → 정보 없음(상수/100% 결측) DROP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→ 식별자이므로 모델 입력에서 제외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희소 카테고리(표본 너무 적음)는 Other로 통합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결측/오입력 처리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5166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결측(previous_class_3~8, class2~): “해당 없음”으로 분리 + 결측 플래그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completed_semester: &lt;1 또는 &gt;20 → Invalid 처리 + is_invalid_semester 추가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고카디널 범주형: unseen 대비(해싱/빈도상위N)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63640" y="160020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인코딩/텍스트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63640" y="1965960"/>
            <a:ext cx="5166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다중선택 문자열(desired_job/expected_domain 등): 콤마 분해 → 멀티-핫/CountVectorizer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자유서술 텍스트: TF-IDF(단어/문자 ngram) 또는 해싱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인코딩 사용 시: K-fold 내부에서만 fit(누수 방지)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63640" y="411480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검증/평가(F1)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4480560"/>
            <a:ext cx="5166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Stratified K-Fold로 불균형 유지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확률→라벨 임계값은 0.5 고정 금지(검증으로 최적화)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리더보드 흔들림 방지: train/test 분포 차이 점검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누수(Leakage) 점검(휴리스틱): 컬럼명 기반으로 completed_semester/자격증 관련 컬럼이 “의심 후보”로 뜰 수 있으나, 실제 의미(응답 시점)가 타깃 이후 정보인지 반드시 확인 필요.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2026-01-26T08:34:57Z</dcterms:created>
  <dcterms:modified xsi:type="dcterms:W3CDTF">2026-01-26T08:34:57Z</dcterms:modified>
</cp:coreProperties>
</file>